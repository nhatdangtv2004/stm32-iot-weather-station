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16462d29ef4f64" /><Relationship Type="http://schemas.openxmlformats.org/officeDocument/2006/relationships/extended-properties" Target="/docProps/app.xml" Id="Rc4d66dd86e474d49" /><Relationship Type="http://schemas.openxmlformats.org/officeDocument/2006/relationships/officeDocument" Target="/ppt/presentation.xml" Id="R118b4d2487814f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9bcf7a9e7c4050"/>
  </p:sldMasterIdLst>
  <p:notesMasterIdLst>
    <p:notesMasterId xmlns:r="http://schemas.openxmlformats.org/officeDocument/2006/relationships" r:id="Rcb2216d5da374012"/>
  </p:notesMasterIdLst>
  <p:sldIdLst>
    <p:sldId xmlns:r="http://schemas.openxmlformats.org/officeDocument/2006/relationships" id="256" r:id="Rab5fccf3d1e5473f"/>
    <p:sldId xmlns:r="http://schemas.openxmlformats.org/officeDocument/2006/relationships" id="257" r:id="R231b09b2815a4cc6"/>
    <p:sldId xmlns:r="http://schemas.openxmlformats.org/officeDocument/2006/relationships" id="258" r:id="R1b68f244a2cb4b56"/>
    <p:sldId xmlns:r="http://schemas.openxmlformats.org/officeDocument/2006/relationships" id="259" r:id="R2e70df28b55147ac"/>
    <p:sldId xmlns:r="http://schemas.openxmlformats.org/officeDocument/2006/relationships" id="260" r:id="R18434f8448ea452c"/>
    <p:sldId xmlns:r="http://schemas.openxmlformats.org/officeDocument/2006/relationships" id="261" r:id="R2ca2a2761f6f4072"/>
    <p:sldId xmlns:r="http://schemas.openxmlformats.org/officeDocument/2006/relationships" id="262" r:id="Rc40488aa76604ac7"/>
    <p:sldId xmlns:r="http://schemas.openxmlformats.org/officeDocument/2006/relationships" id="263" r:id="Re3b35c24d8d3429e"/>
    <p:sldId xmlns:r="http://schemas.openxmlformats.org/officeDocument/2006/relationships" id="264" r:id="Rca24689b6c7a4595"/>
    <p:sldId xmlns:r="http://schemas.openxmlformats.org/officeDocument/2006/relationships" id="265" r:id="R7ddfa66bf92d4a8d"/>
    <p:sldId xmlns:r="http://schemas.openxmlformats.org/officeDocument/2006/relationships" id="266" r:id="R7a47f8f9e642463c"/>
    <p:sldId xmlns:r="http://schemas.openxmlformats.org/officeDocument/2006/relationships" id="267" r:id="R526c5681e2364ffa"/>
    <p:sldId xmlns:r="http://schemas.openxmlformats.org/officeDocument/2006/relationships" id="268" r:id="R73c7973d961248c3"/>
    <p:sldId xmlns:r="http://schemas.openxmlformats.org/officeDocument/2006/relationships" id="269" r:id="R8a60b9febd254455"/>
    <p:sldId xmlns:r="http://schemas.openxmlformats.org/officeDocument/2006/relationships" id="270" r:id="R3678dd43e2834703"/>
    <p:sldId xmlns:r="http://schemas.openxmlformats.org/officeDocument/2006/relationships" id="271" r:id="Ra5ff7c6a6bf64b0d"/>
    <p:sldId xmlns:r="http://schemas.openxmlformats.org/officeDocument/2006/relationships" id="272" r:id="R8713cf3e91854b5c"/>
    <p:sldId xmlns:r="http://schemas.openxmlformats.org/officeDocument/2006/relationships" id="273" r:id="Re111716a87c24378"/>
    <p:sldId xmlns:r="http://schemas.openxmlformats.org/officeDocument/2006/relationships" id="274" r:id="R7144d90b92d4405f"/>
    <p:sldId xmlns:r="http://schemas.openxmlformats.org/officeDocument/2006/relationships" id="275" r:id="R48ee3e13913d44f9"/>
  </p:sldIdLst>
  <p:sldSz cx="12192000" cy="6858000"/>
  <p:notesSz cx="6858000" cy="9144000"/>
  <p:defaultTextStyle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15b15c88a84cf3" /><Relationship Type="http://schemas.openxmlformats.org/officeDocument/2006/relationships/slideMaster" Target="/ppt/slideMasters/slideMaster1.xml" Id="R809bcf7a9e7c4050" /><Relationship Type="http://schemas.openxmlformats.org/officeDocument/2006/relationships/notesMaster" Target="/ppt/notesMasters/notesMaster1.xml" Id="Rcb2216d5da374012" /><Relationship Type="http://schemas.openxmlformats.org/officeDocument/2006/relationships/presProps" Target="/ppt/presProps.xml" Id="R6d03e75c126b4b2a" /><Relationship Type="http://schemas.openxmlformats.org/officeDocument/2006/relationships/viewProps" Target="/ppt/viewProps.xml" Id="R4b7a15df9eff41dc" /><Relationship Type="http://schemas.openxmlformats.org/officeDocument/2006/relationships/tableStyles" Target="/ppt/tableStyles.xml" Id="Rc6a45a58a1ef4754" /><Relationship Type="http://schemas.openxmlformats.org/officeDocument/2006/relationships/slide" Target="/ppt/slides/slide1.xml" Id="Rab5fccf3d1e5473f" /><Relationship Type="http://schemas.openxmlformats.org/officeDocument/2006/relationships/slide" Target="/ppt/slides/slide2.xml" Id="R231b09b2815a4cc6" /><Relationship Type="http://schemas.openxmlformats.org/officeDocument/2006/relationships/slide" Target="/ppt/slides/slide3.xml" Id="R1b68f244a2cb4b56" /><Relationship Type="http://schemas.openxmlformats.org/officeDocument/2006/relationships/slide" Target="/ppt/slides/slide4.xml" Id="R2e70df28b55147ac" /><Relationship Type="http://schemas.openxmlformats.org/officeDocument/2006/relationships/slide" Target="/ppt/slides/slide5.xml" Id="R18434f8448ea452c" /><Relationship Type="http://schemas.openxmlformats.org/officeDocument/2006/relationships/slide" Target="/ppt/slides/slide6.xml" Id="R2ca2a2761f6f4072" /><Relationship Type="http://schemas.openxmlformats.org/officeDocument/2006/relationships/slide" Target="/ppt/slides/slide7.xml" Id="Rc40488aa76604ac7" /><Relationship Type="http://schemas.openxmlformats.org/officeDocument/2006/relationships/slide" Target="/ppt/slides/slide8.xml" Id="Re3b35c24d8d3429e" /><Relationship Type="http://schemas.openxmlformats.org/officeDocument/2006/relationships/slide" Target="/ppt/slides/slide9.xml" Id="Rca24689b6c7a4595" /><Relationship Type="http://schemas.openxmlformats.org/officeDocument/2006/relationships/slide" Target="/ppt/slides/slide10.xml" Id="R7ddfa66bf92d4a8d" /><Relationship Type="http://schemas.openxmlformats.org/officeDocument/2006/relationships/slide" Target="/ppt/slides/slide11.xml" Id="R7a47f8f9e642463c" /><Relationship Type="http://schemas.openxmlformats.org/officeDocument/2006/relationships/slide" Target="/ppt/slides/slide12.xml" Id="R526c5681e2364ffa" /><Relationship Type="http://schemas.openxmlformats.org/officeDocument/2006/relationships/slide" Target="/ppt/slides/slide13.xml" Id="R73c7973d961248c3" /><Relationship Type="http://schemas.openxmlformats.org/officeDocument/2006/relationships/slide" Target="/ppt/slides/slide14.xml" Id="R8a60b9febd254455" /><Relationship Type="http://schemas.openxmlformats.org/officeDocument/2006/relationships/slide" Target="/ppt/slides/slide15.xml" Id="R3678dd43e2834703" /><Relationship Type="http://schemas.openxmlformats.org/officeDocument/2006/relationships/slide" Target="/ppt/slides/slide16.xml" Id="Ra5ff7c6a6bf64b0d" /><Relationship Type="http://schemas.openxmlformats.org/officeDocument/2006/relationships/slide" Target="/ppt/slides/slide17.xml" Id="R8713cf3e91854b5c" /><Relationship Type="http://schemas.openxmlformats.org/officeDocument/2006/relationships/slide" Target="/ppt/slides/slide18.xml" Id="Re111716a87c24378" /><Relationship Type="http://schemas.openxmlformats.org/officeDocument/2006/relationships/slide" Target="/ppt/slides/slide19.xml" Id="R7144d90b92d4405f" /><Relationship Type="http://schemas.openxmlformats.org/officeDocument/2006/relationships/slide" Target="/ppt/slides/slide20.xml" Id="R48ee3e13913d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020311211f43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3f796a62b43a3" /><Relationship Type="http://schemas.openxmlformats.org/officeDocument/2006/relationships/notesMaster" Target="/ppt/notesMasters/notesMaster1.xml" Id="R82a65f5bcc19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5b9ea5eccd44e9" /><Relationship Type="http://schemas.openxmlformats.org/officeDocument/2006/relationships/notesMaster" Target="/ppt/notesMasters/notesMaster1.xml" Id="Ra2e53dc0655f4d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430bd5eed84b83" /><Relationship Type="http://schemas.openxmlformats.org/officeDocument/2006/relationships/notesMaster" Target="/ppt/notesMasters/notesMaster1.xml" Id="R93c4840d66a4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2c03eca6c44dd" /><Relationship Type="http://schemas.openxmlformats.org/officeDocument/2006/relationships/notesMaster" Target="/ppt/notesMasters/notesMaster1.xml" Id="Raf65b8c3b63e4a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d8a62f62d04f03" /><Relationship Type="http://schemas.openxmlformats.org/officeDocument/2006/relationships/notesMaster" Target="/ppt/notesMasters/notesMaster1.xml" Id="R474bf9d9556048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8d8cc2ed8d4b57" /><Relationship Type="http://schemas.openxmlformats.org/officeDocument/2006/relationships/notesMaster" Target="/ppt/notesMasters/notesMaster1.xml" Id="Rc721d16ae8374b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1f622e3e784988" /><Relationship Type="http://schemas.openxmlformats.org/officeDocument/2006/relationships/notesMaster" Target="/ppt/notesMasters/notesMaster1.xml" Id="Rba249b3cc2f845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f12040ef154d16" /><Relationship Type="http://schemas.openxmlformats.org/officeDocument/2006/relationships/notesMaster" Target="/ppt/notesMasters/notesMaster1.xml" Id="R948a9996e2a748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13a80f40ea4466" /><Relationship Type="http://schemas.openxmlformats.org/officeDocument/2006/relationships/notesMaster" Target="/ppt/notesMasters/notesMaster1.xml" Id="R15b8197de6c244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798b3bf2d44307" /><Relationship Type="http://schemas.openxmlformats.org/officeDocument/2006/relationships/notesMaster" Target="/ppt/notesMasters/notesMaster1.xml" Id="Rc5ae9e4d259643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4fc95bc7abd41f0" /><Relationship Type="http://schemas.openxmlformats.org/officeDocument/2006/relationships/notesMaster" Target="/ppt/notesMasters/notesMaster1.xml" Id="Rcb45adf7e9334e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22b6f2c37342cb" /><Relationship Type="http://schemas.openxmlformats.org/officeDocument/2006/relationships/notesMaster" Target="/ppt/notesMasters/notesMaster1.xml" Id="R011c73257a0442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2dcda17d97433f" /><Relationship Type="http://schemas.openxmlformats.org/officeDocument/2006/relationships/notesMaster" Target="/ppt/notesMasters/notesMaster1.xml" Id="Ra77319fecee349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50f77ae58f4303" /><Relationship Type="http://schemas.openxmlformats.org/officeDocument/2006/relationships/notesMaster" Target="/ppt/notesMasters/notesMaster1.xml" Id="R3437a0622efa48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a28706bac4449f" /><Relationship Type="http://schemas.openxmlformats.org/officeDocument/2006/relationships/notesMaster" Target="/ppt/notesMasters/notesMaster1.xml" Id="R769c7cb9eadb48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c2d61401524112" /><Relationship Type="http://schemas.openxmlformats.org/officeDocument/2006/relationships/notesMaster" Target="/ppt/notesMasters/notesMaster1.xml" Id="R17d8b0c00f0d489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d5a88c898d4b76" /><Relationship Type="http://schemas.openxmlformats.org/officeDocument/2006/relationships/notesMaster" Target="/ppt/notesMasters/notesMaster1.xml" Id="R27922fe2413a46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2653c3490245e5" /><Relationship Type="http://schemas.openxmlformats.org/officeDocument/2006/relationships/notesMaster" Target="/ppt/notesMasters/notesMaster1.xml" Id="Ree93ac5fdd2e41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861be5291446aa" /><Relationship Type="http://schemas.openxmlformats.org/officeDocument/2006/relationships/notesMaster" Target="/ppt/notesMasters/notesMaster1.xml" Id="R4e985d58daab4a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05a1996608416b" /><Relationship Type="http://schemas.openxmlformats.org/officeDocument/2006/relationships/notesMaster" Target="/ppt/notesMasters/notesMaster1.xml" Id="R017c4a89d2c843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3fefc884743b6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0b1a81b8dd4f95" /><Relationship Type="http://schemas.openxmlformats.org/officeDocument/2006/relationships/slideLayout" Target="/ppt/slideLayouts/slideLayout1.xml" Id="R73f82a23f97749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82a23f97749ed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87af3fd014873" /><Relationship Type="http://schemas.openxmlformats.org/officeDocument/2006/relationships/notesSlide" Target="/ppt/notesSlides/notesSlide1.xml" Id="Rcbaf71bcc6c342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37a3db6f247dd" /><Relationship Type="http://schemas.openxmlformats.org/officeDocument/2006/relationships/notesSlide" Target="/ppt/notesSlides/notesSlide2.xml" Id="R9b6f09f17cc342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a55ab74b241e4" /><Relationship Type="http://schemas.openxmlformats.org/officeDocument/2006/relationships/notesSlide" Target="/ppt/notesSlides/notesSlide3.xml" Id="R18da633a0a6847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bac19f36c42dc" /><Relationship Type="http://schemas.openxmlformats.org/officeDocument/2006/relationships/notesSlide" Target="/ppt/notesSlides/notesSlide4.xml" Id="R83600c77e7d74f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cd9644d0442f9" /><Relationship Type="http://schemas.openxmlformats.org/officeDocument/2006/relationships/notesSlide" Target="/ppt/notesSlides/notesSlide5.xml" Id="R5841beda4e824a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3eb499ee9410c" /><Relationship Type="http://schemas.openxmlformats.org/officeDocument/2006/relationships/image" Target="/ppt/media/image.png" Id="Rb4eb04ce0a834278" /><Relationship Type="http://schemas.openxmlformats.org/officeDocument/2006/relationships/notesSlide" Target="/ppt/notesSlides/notesSlide6.xml" Id="R0cac056f40674a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81e6605fa4450" /><Relationship Type="http://schemas.openxmlformats.org/officeDocument/2006/relationships/image" Target="/ppt/media/image.jpeg" Id="Reb32bb42dc624b44" /><Relationship Type="http://schemas.openxmlformats.org/officeDocument/2006/relationships/notesSlide" Target="/ppt/notesSlides/notesSlide7.xml" Id="R9ec48a1175914f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5b50bbadb4c37" /><Relationship Type="http://schemas.openxmlformats.org/officeDocument/2006/relationships/image" Target="/ppt/media/image2.png" Id="R174deb4115ce4ce5" /><Relationship Type="http://schemas.openxmlformats.org/officeDocument/2006/relationships/notesSlide" Target="/ppt/notesSlides/notesSlide8.xml" Id="R573bcf583abb41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378d3e82f469e" /><Relationship Type="http://schemas.openxmlformats.org/officeDocument/2006/relationships/notesSlide" Target="/ppt/notesSlides/notesSlide9.xml" Id="R0617bb02b17c40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32d2b02343f9" /><Relationship Type="http://schemas.openxmlformats.org/officeDocument/2006/relationships/notesSlide" Target="/ppt/notesSlides/notesSlide10.xml" Id="R29e216105a9f42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5a880a28f47b7" /><Relationship Type="http://schemas.openxmlformats.org/officeDocument/2006/relationships/notesSlide" Target="/ppt/notesSlides/notesSlide11.xml" Id="R8c2ea1906e8b4d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5c52800554887" /><Relationship Type="http://schemas.openxmlformats.org/officeDocument/2006/relationships/image" Target="/ppt/media/image3.png" Id="R3af4db28090948b6" /><Relationship Type="http://schemas.openxmlformats.org/officeDocument/2006/relationships/notesSlide" Target="/ppt/notesSlides/notesSlide12.xml" Id="R90d847400fdb45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f984a21ef4f56" /><Relationship Type="http://schemas.openxmlformats.org/officeDocument/2006/relationships/image" Target="/ppt/media/image4.png" Id="R19702d8b22fe4d65" /><Relationship Type="http://schemas.openxmlformats.org/officeDocument/2006/relationships/notesSlide" Target="/ppt/notesSlides/notesSlide13.xml" Id="R8313c8c9d39d4e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3adf6bab6414b" /><Relationship Type="http://schemas.openxmlformats.org/officeDocument/2006/relationships/image" Target="/ppt/media/image2.jpeg" Id="R56b5254b59a740fc" /><Relationship Type="http://schemas.openxmlformats.org/officeDocument/2006/relationships/notesSlide" Target="/ppt/notesSlides/notesSlide14.xml" Id="R939147bda82446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fa9115f494d3a" /><Relationship Type="http://schemas.openxmlformats.org/officeDocument/2006/relationships/image" Target="/ppt/media/image3.jpeg" Id="Rea21a6382a174203" /><Relationship Type="http://schemas.openxmlformats.org/officeDocument/2006/relationships/notesSlide" Target="/ppt/notesSlides/notesSlide15.xml" Id="R2fd758f945e84f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77e4bc6a54285" /><Relationship Type="http://schemas.openxmlformats.org/officeDocument/2006/relationships/image" Target="/ppt/media/image4.jpeg" Id="Rc3e57c8dbcd747ab" /><Relationship Type="http://schemas.openxmlformats.org/officeDocument/2006/relationships/notesSlide" Target="/ppt/notesSlides/notesSlide16.xml" Id="Rf17e3660b63344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b1a7ba0f84e28" /><Relationship Type="http://schemas.openxmlformats.org/officeDocument/2006/relationships/notesSlide" Target="/ppt/notesSlides/notesSlide17.xml" Id="R83bd8fd62a944f1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e5fcf06ed4062" /><Relationship Type="http://schemas.openxmlformats.org/officeDocument/2006/relationships/image" Target="/ppt/media/image5.jpeg" Id="R1ee38e94af4a4b46" /><Relationship Type="http://schemas.openxmlformats.org/officeDocument/2006/relationships/notesSlide" Target="/ppt/notesSlides/notesSlide18.xml" Id="R19dd9503f8cf4a6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ceb5e62934d85" /><Relationship Type="http://schemas.openxmlformats.org/officeDocument/2006/relationships/notesSlide" Target="/ppt/notesSlides/notesSlide19.xml" Id="R0ad8767e003447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af9074694e9d" /><Relationship Type="http://schemas.openxmlformats.org/officeDocument/2006/relationships/notesSlide" Target="/ppt/notesSlides/notesSlide20.xml" Id="Rb52f11c594694c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FBB937-5C13-4221-BF20-005068F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0000"/>
            <a:ext cx="10363200" cy="1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3400">
                <a:solidFill>
                  <a:srgbClr val="000000"/>
                </a:solidFill>
                <a:latin typeface="Arial"/>
                <a:ea typeface="Arial"/>
                <a:cs typeface="Arial"/>
              </a:rPr>
              <a:t>STM32-BASED IOT WEATHER STATION</a:t>
            </a:r>
            <a:endParaRPr sz="3400"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6D6ACCA-9D66-4DDE-9137-FB4FC42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000"/>
            <a:ext cx="10363200" cy="11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Design and implementation using ESP32, MQTT and Node-RED</a:t>
            </a:r>
            <a:endParaRPr sz="2200"/>
          </a:p>
        </p:txBody>
      </p:sp>
      <p:sp>
        <p:nvSpPr>
          <p:cNvPr id="4" name="Details">
            <a:extLst xmlns:a="http://schemas.openxmlformats.org/drawingml/2006/main">
              <a:ext uri="{FF2B5EF4-FFF2-40B4-BE49-F238E27FC236}">
                <a16:creationId xmlns:a16="http://schemas.microsoft.com/office/drawing/2014/main" id="{9BD03336-582C-461F-B387-CA60807D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8659"/>
            <a:ext cx="10363200" cy="1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EMBEDDED SYSTEM DESIGN PROJECT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Đặng Nguyễn Nam Nhật - 22119022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Ngô Phúc Khang - 20119117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Supervisor: Huynh Hoang Ha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Ho Chi Minh City University of Technology and Engineering  |  October 2026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45364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hapterTitle">
            <a:extLst xmlns:a="http://schemas.openxmlformats.org/drawingml/2006/main">
              <a:ext uri="{FF2B5EF4-FFF2-40B4-BE49-F238E27FC236}">
                <a16:creationId xmlns:a16="http://schemas.microsoft.com/office/drawing/2014/main" id="{35E81622-AB91-46C0-B41A-68A39C8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900000"/>
            <a:ext cx="108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340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CHAPTER I — INTRODUCTION</a:t>
            </a:r>
            <a:endParaRPr sz="34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C419B3B-507B-4C87-84A7-C6A8E8C7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100000"/>
            <a:ext cx="10800000" cy="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hapterScope">
            <a:extLst xmlns:a="http://schemas.openxmlformats.org/drawingml/2006/main">
              <a:ext uri="{FF2B5EF4-FFF2-40B4-BE49-F238E27FC236}">
                <a16:creationId xmlns:a16="http://schemas.microsoft.com/office/drawing/2014/main" id="{0265E0E7-3589-4A7D-9E8C-E0EDECD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450000"/>
            <a:ext cx="108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context, motivation, objectives, scope and methodology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206076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B5A54B-3E5A-4CE0-BF91-82EE44AC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1.1  BACKGROUND AND PROJECT MOTIVATION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0049237-1654-41A6-A99D-FE505C35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17E77AEC-1B61-4CB3-90C6-BA12F791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106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Weather monitoring supports environmental awareness and automated systems, but a standalone display limits remote access.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 network-only sensor can lose remote service when connectivity fails.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This project combines local sensing and warnings with remote viewing: STM32 handles measurements and rain response, while ESP32 handles Wi-Fi and MQTT.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split architecture lets sensor and control firmware be tested separately from network and dashboard tasks.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prototype is intended for academic demonstration; it is not a calibrated meteorological instrument.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65447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8C7125-081C-4412-9897-04EEBDAC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  OBJECTIVES, SCOPE AND METHOD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FDBE9E5-F42C-4DAF-B77A-ACEDCBAA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3B370F70-66F5-4DEA-87F8-3F9B43C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106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OBJECTIVES</a:t>
            </a:r>
            <a:endParaRPr sz="22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Measure temperature, humidity, pressure, light and rain; show values locally and remotely.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Classify rain as DRY, LOW or HEAVY and provide an audible warning.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Test sensor/display operation, UART and MQTT delivery, network recovery and power-cycle restart.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AND METHOD</a:t>
            </a:r>
            <a:endParaRPr sz="22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Integrate STM32F103C8T6, ESP32, four sensor modules, OLED and active buzzer.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Configure and test modules individually, integrate firmware, then validate the sensor-to-dashboard path.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Excludes weatherproofing, reference calibration, persistent storage, wind/rainfall-quantity sensing and battery optimization.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4315851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hapterTitle">
            <a:extLst xmlns:a="http://schemas.openxmlformats.org/drawingml/2006/main">
              <a:ext uri="{FF2B5EF4-FFF2-40B4-BE49-F238E27FC236}">
                <a16:creationId xmlns:a16="http://schemas.microsoft.com/office/drawing/2014/main" id="{56D4B2E2-B8FF-43FC-841D-866BE021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900000"/>
            <a:ext cx="108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340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CHAPTER II — LITERATURE REVIEW</a:t>
            </a:r>
            <a:endParaRPr sz="34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CD0D7DE-FE5C-438C-9619-D359BBA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100000"/>
            <a:ext cx="10800000" cy="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hapterScope">
            <a:extLst xmlns:a="http://schemas.openxmlformats.org/drawingml/2006/main">
              <a:ext uri="{FF2B5EF4-FFF2-40B4-BE49-F238E27FC236}">
                <a16:creationId xmlns:a16="http://schemas.microsoft.com/office/drawing/2014/main" id="{95A11ABE-FB80-4B98-97F8-2137BDB1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450000"/>
            <a:ext cx="108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Weather-monitoring architecture, sensing components, communication interfaces and software tools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4803597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F5E2EF-B966-4B5D-9056-BAD424BC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  OVERVIEW OF IOT WEATHER MONITORING SYSTEMS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F1CDE7-0CB8-4B0D-9D57-78CA1ABB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4CE51E78-4D8D-4E11-B031-D252633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An IoT weather station links sensors, local processing, wireless transport, a broker and a monitoring dashboard.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Local processing can preserve basic measurement and warning functions when Internet access is unavailable.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Here, STM32 performs sensing and local control while ESP32 provides the network gateway.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HiveMQ brokers MQTT messages; Node-RED subscribes and presents the latest readings.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report’s block diagram summarizes this end-to-end data path.</a:t>
            </a:r>
            <a:endParaRPr sz="1800"/>
          </a:p>
        </p:txBody>
      </p:sp>
      <p:pic>
        <p:nvPicPr>
          <p:cNvPr id="5" name="image10.png">
            <a:extLst xmlns:a="http://schemas.openxmlformats.org/drawingml/2006/main">
              <a:ext uri="{FF2B5EF4-FFF2-40B4-BE49-F238E27FC236}">
                <a16:creationId xmlns:a16="http://schemas.microsoft.com/office/drawing/2014/main" id="{CC9378ED-980D-42C9-B4B9-9ABDBE871F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b04ce0a834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0000" y="2066771"/>
            <a:ext cx="5650000" cy="3316458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F2B5E77-E9DA-4AC1-9CC6-6FAA8B6B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329" y="5383229"/>
            <a:ext cx="2809906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 block diagram from the report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00193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3ED64-2AD7-4192-B1F1-B3FE92D7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  HARDWARE COMPONENTS AND ROLES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639DED2-700C-4924-942C-C86AB542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C01D64E-172F-4DC7-9C17-6254671E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STM32F103C8T6 is the main controller for sensor acquisition and local outputs.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SHT30 measures temperature and humidity; BMP388 measures pressure; BH1750 measures ambient light.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analog rain module provides a wetness-related ADC reading.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 0.96-inch SSD1306 OLED displays local measurements; an active-low buzzer signals rain state.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ESP32 DOIT DevKit V1 provides Wi-Fi connectivity; the modules were assembled on a breadboard for testing.</a:t>
            </a:r>
            <a:endParaRPr sz="1600"/>
          </a:p>
        </p:txBody>
      </p:sp>
      <p:pic>
        <p:nvPicPr>
          <p:cNvPr id="5" name="image13.jpg">
            <a:extLst xmlns:a="http://schemas.openxmlformats.org/drawingml/2006/main">
              <a:ext uri="{FF2B5EF4-FFF2-40B4-BE49-F238E27FC236}">
                <a16:creationId xmlns:a16="http://schemas.microsoft.com/office/drawing/2014/main" id="{AA4A73AC-AA83-4AD3-8BE3-A8D8A5D532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2bb42dc624b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6250" y="1500000"/>
            <a:ext cx="3337500" cy="4450000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B48FA79-C21C-4154-A389-40F4D54B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250" y="6070541"/>
            <a:ext cx="4493750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hardware prototype documented in the report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3015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3DF428-3CB1-4628-AEDC-35E53E45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2.10  COMMUNICATION INTERFACES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4978C3-70EB-4CD2-8935-6CA03E5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A685DFC2-7BE9-445A-85B7-B7D5713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I2C1 uses PB6/SCL and PB7/SDA to connect SHT30, BMP388, BH1750 and OLED at 100 kHz.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Rain sensor analog output connects to PA0 / ADC1 channel 0; buzzer control is PB0 (active-low).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USART1 PA9/TX connects to ESP32 GPIO16/RX; PA10/RX connects from GPIO17/TX.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UART is configured for 115200 bit/s, 8-N-1; STM32 and ESP32 share a common ground.</a:t>
            </a:r>
            <a:endParaRPr sz="16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Breadboard wiring suits the prototype; field use needs protected, secure connections.</a:t>
            </a:r>
            <a:endParaRPr sz="1600"/>
          </a:p>
        </p:txBody>
      </p:sp>
      <p:pic>
        <p:nvPicPr>
          <p:cNvPr id="5" name="image11.png">
            <a:extLst xmlns:a="http://schemas.openxmlformats.org/drawingml/2006/main">
              <a:ext uri="{FF2B5EF4-FFF2-40B4-BE49-F238E27FC236}">
                <a16:creationId xmlns:a16="http://schemas.microsoft.com/office/drawing/2014/main" id="{594EBF1D-AF55-4A39-A573-C11C61359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deb4115ce4c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0000" y="1726546"/>
            <a:ext cx="5650000" cy="3996909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C86C613D-7BC6-47D8-91F7-DF8121E2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435" y="5258000"/>
            <a:ext cx="2245129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Circuit schematic from the report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090244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69D2486-5C0B-4CE7-9032-AFE174D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CHAPTER III — SYSTEM DESIGN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2827DC7-DFB6-4552-990A-B44B4EC6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A6F36F64-60BB-4C28-9027-672BBF7E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106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 SYSTEM REQUIREMENTS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Measure temperature, humidity, pressure, light and rain; show values locally and remotely.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Keep local measurements and rain warnings available during network interruption.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3.2 OVERALL SYSTEM ARCHITECTURE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STM32 acquires and processes sensor data; ESP32 transfers valid readings through Wi-Fi/MQTT to HiveMQ and Node-RED.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3.4–3.5 SENSOR ACQUISITION AND RAIN LOGIC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About one-second cycle; digital sensors use I2C; rain uses ADC1 channel 0 (PA0).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DRY ≥3000: buzzer OFF; LOW 1500–2999: 150 ms beep; HEAVY &lt;1500: continuous ON.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Prototype-specific thresholds; rain ADC generally falls as the plate gets wetter and should be calibrated for each installation.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710944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0110C8-1EA2-4C48-A2F4-012555F9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3.6  STM32-TO-ESP32 WEATHER DATA FRAME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9F48482-646F-4463-B4B2-E72ADBC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C000FE07-60B9-4C73-AF87-C164567A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106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STM32 sends a fixed 16-byte binary packet over UART at 115200 bit/s, 8-N-1. Bytes 0–1 contain the 0xAA 0x55 header.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Bytes 2–3: temperature ×100 (signed int16); bytes 4–5: relative humidity ×100 (uint16).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Bytes 6–9: pressure ×100 (uint32, little-endian); bytes 10–11: light in lux (uint16).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Bytes 12–13: raw rain ADC (uint16); byte 14: state (0 DRY, 1 LOW, 2 HEAVY).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Byte 15 is the XOR checksum of bytes 0–14. ESP32 checks the header and checksum before decoding and publishing.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checksum detects basic transmission errors; it is not cryptographic protection.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0366958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hapterTitle">
            <a:extLst xmlns:a="http://schemas.openxmlformats.org/drawingml/2006/main">
              <a:ext uri="{FF2B5EF4-FFF2-40B4-BE49-F238E27FC236}">
                <a16:creationId xmlns:a16="http://schemas.microsoft.com/office/drawing/2014/main" id="{AE3DBEE1-4554-407F-9D82-A89C5D7E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900000"/>
            <a:ext cx="108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340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3.10  SYSTEM OPERATING FLOWCHART</a:t>
            </a:r>
            <a:endParaRPr sz="34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0AEEB8F-923F-4EB1-87A0-EAEE6798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100000"/>
            <a:ext cx="10800000" cy="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hapterScope">
            <a:extLst xmlns:a="http://schemas.openxmlformats.org/drawingml/2006/main">
              <a:ext uri="{FF2B5EF4-FFF2-40B4-BE49-F238E27FC236}">
                <a16:creationId xmlns:a16="http://schemas.microsoft.com/office/drawing/2014/main" id="{92D02B4A-872B-4A80-93CB-3202F09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450000"/>
            <a:ext cx="108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report flowchart follows initialization, sensing, local rain response, UART transfer, Wi-Fi/MQTT publishing, dashboard update and the next measurement cycle.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700828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E58A26-4D38-49D4-B188-C8BEBE82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3.10  SYSTEM OPERATING FLOWCHART — PART 1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5638ED3-8C44-46C2-B3CC-5F1EC4EE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pic>
        <p:nvPicPr>
          <p:cNvPr id="4" name="flowchart_en.png">
            <a:extLst xmlns:a="http://schemas.openxmlformats.org/drawingml/2006/main">
              <a:ext uri="{FF2B5EF4-FFF2-40B4-BE49-F238E27FC236}">
                <a16:creationId xmlns:a16="http://schemas.microsoft.com/office/drawing/2014/main" id="{A35A5F95-6A1D-44EA-88C8-A93B590AD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4db28090948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67175" y="1381125"/>
            <a:ext cx="4057650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997BFCE-1046-4F15-93BE-25B2BE41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86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Original report flowchart, upper sequence: initialization, sensing, local display, rain warning and UART transfer.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6041251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5BE60C-B603-40BF-8D15-956F534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3.10  SYSTEM OPERATING FLOWCHART — PART 2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3B85406-883B-462C-B4F2-3432F36F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C0D506A6-A276-4CEB-B2C6-5AFEEFD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1600"/>
          </a:p>
        </p:txBody>
      </p:sp>
      <p:pic>
        <p:nvPicPr>
          <p:cNvPr id="5" name="image17.jpg">
            <a:extLst xmlns:a="http://schemas.openxmlformats.org/drawingml/2006/main">
              <a:ext uri="{FF2B5EF4-FFF2-40B4-BE49-F238E27FC236}">
                <a16:creationId xmlns:a16="http://schemas.microsoft.com/office/drawing/2014/main" id="{2B65EC70-2218-4C7D-8A95-63CEBC0E9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02d8b22fe4d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67175" y="1381125"/>
            <a:ext cx="4057650" cy="4857750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95961599-B760-45FA-8E54-FBDEA47A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865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Original report flowchart, continued: ESP32 connectivity, MQTT publishing, Node-RED dashboard and cycle restart.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608737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2321CF9-2A65-4A9A-819E-79503103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CHAPTER IV — SYSTEM IMPLEMENTATION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55467A1-6B4F-4144-BC9E-9486FEC6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4AA0A125-1AAB-4F2C-81A3-337C8D4A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4.1 HARDWARE IMPLEMENTATION</a:t>
            </a:r>
            <a:endParaRPr sz="15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prototype was assembled on a breadboard to support module-level testing and replacement; the wiring follows the circuit design in Chapter II.</a:t>
            </a:r>
            <a:endParaRPr sz="15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4.2 STM32 FIRMWARE</a:t>
            </a:r>
            <a:endParaRPr sz="15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STM32CubeMX configures clock, GPIO, I2C, ADC and USART; Keil MDK-ARM builds and debugs the project.</a:t>
            </a:r>
            <a:endParaRPr sz="15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Separate modules handle SHT30, BMP388, BH1750, rain sensing, OLED updates and UART framing.</a:t>
            </a:r>
            <a:endParaRPr sz="15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5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main loop refreshes readings and local outputs, then sends a 16-byte frame about once per second.</a:t>
            </a:r>
            <a:endParaRPr sz="1500"/>
          </a:p>
        </p:txBody>
      </p:sp>
      <p:pic>
        <p:nvPicPr>
          <p:cNvPr id="5" name="image18.jpg">
            <a:extLst xmlns:a="http://schemas.openxmlformats.org/drawingml/2006/main">
              <a:ext uri="{FF2B5EF4-FFF2-40B4-BE49-F238E27FC236}">
                <a16:creationId xmlns:a16="http://schemas.microsoft.com/office/drawing/2014/main" id="{1AA46C29-D960-45ED-A0F2-2ED7FB1F5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5254b59a740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1373" y="1499997"/>
            <a:ext cx="4527328" cy="4449985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F42768F-C8EE-40B5-A93A-A2DAF9CD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049" y="6013000"/>
            <a:ext cx="3159529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ESP32 serial diagnostics during normal system operation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571866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7525ED-1BF8-429C-AAA3-30DCD489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4.3  ESP32 FIRMWARE AND MQTT GATEWAY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5CCFE2B-F1F6-415D-B8CA-83C64E5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C94C3A92-2C8B-40CE-87DF-DA30905B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PlatformIO/Arduino configures UART2 (GPIO16/17, 115200); ESP32 syncs on 0xAA 0x55, verifies XOR and decodes each 16-byte frame.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It reconnects to Wi-Fi/MQTT and publishes only valid readings to HiveMQ.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Topics cover temperature, humidity, pressure, light, raw rain, rain state and device status.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Serial logs show values, IP/RSSI and publish status. The public broker is for testing; production requires authentication and encryption.</a:t>
            </a:r>
            <a:endParaRPr sz="1800"/>
          </a:p>
        </p:txBody>
      </p:sp>
      <p:pic>
        <p:nvPicPr>
          <p:cNvPr id="5" name="image14.jpg">
            <a:extLst xmlns:a="http://schemas.openxmlformats.org/drawingml/2006/main">
              <a:ext uri="{FF2B5EF4-FFF2-40B4-BE49-F238E27FC236}">
                <a16:creationId xmlns:a16="http://schemas.microsoft.com/office/drawing/2014/main" id="{6779482E-139F-450C-BCFD-FFAFCA678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1a6382a1742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2091" y="1499997"/>
            <a:ext cx="3705892" cy="4449985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BE0F43D8-1402-4CBC-9D32-E3AB84D1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00" y="5980000"/>
            <a:ext cx="565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Weather messages received through HiveMQ in the report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41488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59B840-B79C-4F4B-A242-422BA04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4.4–4.6  MQTT, NODE-RED FLOW AND DASHBOARD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3EF88FA-B1B6-4868-843C-7952562B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2B0BAA55-ED28-4538-89A2-0EC324A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MQTT In subscribes to weather topics; a Switch node routes each message by topic.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Gauges show temperature, humidity, pressure and light; status fields show rain ADC, rain state and device connectivity.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 chart shows recent temperature history; the report does not use persistent database storage.</a:t>
            </a:r>
            <a:endParaRPr sz="18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8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dashboard separates remote viewing from local sensing and rain warnings on STM32.</a:t>
            </a:r>
            <a:endParaRPr sz="1800"/>
          </a:p>
        </p:txBody>
      </p:sp>
      <p:pic>
        <p:nvPicPr>
          <p:cNvPr id="5" name="image19.jpg">
            <a:extLst xmlns:a="http://schemas.openxmlformats.org/drawingml/2006/main">
              <a:ext uri="{FF2B5EF4-FFF2-40B4-BE49-F238E27FC236}">
                <a16:creationId xmlns:a16="http://schemas.microsoft.com/office/drawing/2014/main" id="{09196B56-D4B7-4DE5-99D0-98CB5D66CC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57c8dbcd747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0000" y="2359780"/>
            <a:ext cx="5650000" cy="2730439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E91283EB-FB4B-420E-A032-AF5910D8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000" y="5980000"/>
            <a:ext cx="565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Node-RED dashboard screenshot from the report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394337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hapterTitle">
            <a:extLst xmlns:a="http://schemas.openxmlformats.org/drawingml/2006/main">
              <a:ext uri="{FF2B5EF4-FFF2-40B4-BE49-F238E27FC236}">
                <a16:creationId xmlns:a16="http://schemas.microsoft.com/office/drawing/2014/main" id="{C6939764-542F-4A3C-A63E-7E5EF240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900000"/>
            <a:ext cx="108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340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CHAPTER V — RESULTS AND EVALUATION</a:t>
            </a:r>
            <a:endParaRPr sz="34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8F5CEDD-B0C8-439C-A88D-9FEC975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100000"/>
            <a:ext cx="10800000" cy="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hapterScope">
            <a:extLst xmlns:a="http://schemas.openxmlformats.org/drawingml/2006/main">
              <a:ext uri="{FF2B5EF4-FFF2-40B4-BE49-F238E27FC236}">
                <a16:creationId xmlns:a16="http://schemas.microsoft.com/office/drawing/2014/main" id="{E976EBDC-03E8-4D87-9EEC-9B34F2DB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450000"/>
            <a:ext cx="108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Functional outcomes, rain-warning behavior, network recovery and prototype limitations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6422543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C87FBF-71FF-40A9-9BEB-04EA5BA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5.1  FUNCTIONAL TEST RESULTS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BE9A77-273E-4193-9289-29E4156B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2275D5F0-0559-41E7-9959-7509F8F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4700000" cy="45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 OPERATION</a:t>
            </a:r>
            <a:endParaRPr sz="14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Temperature, humidity, pressure, light and rain readings updated during the functional checks.</a:t>
            </a:r>
            <a:endParaRPr sz="14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OLED displayed local values; rain-state changes triggered the expected buzzer behavior.</a:t>
            </a:r>
            <a:endParaRPr sz="14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END-TO-END CHECKS</a:t>
            </a:r>
            <a:endParaRPr sz="14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UART transfer, Wi-Fi/MQTT publication, HiveMQ reception and Node-RED dashboard update were marked PASS in the report.</a:t>
            </a:r>
            <a:endParaRPr sz="14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DRY (≥3000): buzzer OFF; LOW (1500–2999): short beep; HEAVY (&lt;1500): continuous ON.</a:t>
            </a:r>
            <a:endParaRPr sz="14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4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report presents functional checks, not quantified accuracy or latency results.</a:t>
            </a:r>
            <a:endParaRPr sz="1400"/>
          </a:p>
        </p:txBody>
      </p:sp>
      <p:pic>
        <p:nvPicPr>
          <p:cNvPr id="5" name="image16.jpg">
            <a:extLst xmlns:a="http://schemas.openxmlformats.org/drawingml/2006/main">
              <a:ext uri="{FF2B5EF4-FFF2-40B4-BE49-F238E27FC236}">
                <a16:creationId xmlns:a16="http://schemas.microsoft.com/office/drawing/2014/main" id="{851A67E0-3C61-484D-9CFE-C1F9106019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38e94af4a4b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6250" y="1500000"/>
            <a:ext cx="3337500" cy="4450000"/>
          </a:xfrm>
          <a:prstGeom xmlns:a="http://schemas.openxmlformats.org/drawingml/2006/main" prst="rect">
            <a:avLst/>
          </a:prstGeom>
        </p:spPr>
      </p:pic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13586A80-C441-4B01-BC3F-BD8299C0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250" y="5950000"/>
            <a:ext cx="3518118" cy="3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OLED local display captured during testing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970463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88CA238-2018-4A9D-B8E6-85A11026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5.7–5.10  RECOVERY, EVALUATION AND LIMITATIONS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65DA105-0CEF-4B19-BD4D-FCA97A22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4394427F-BFE8-4995-8D90-C67CF504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106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RECOVERY TESTS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During Wi-Fi loss, STM32 continued sensor sampling, OLED refresh and rain alerts.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After Wi-Fi returned, ESP32 reconnected to the network and MQTT broker, then resumed publishing.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After a full power cycle, sensing, UART, MQTT and dashboard updates resumed without manual reconfiguration.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EVALUATION AND LIMITATIONS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prototype uses a breadboard and is not weatherproof.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Rain thresholds need calibration for each sensor and mounting condition; no reference-instrument comparison is reported.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The public MQTT broker, lack of persistent storage, missing wind/rainfall-quantity sensors and no battery optimization limit field deployment.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27287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034D02A-77A3-477E-A8FA-3804DE2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350000"/>
            <a:ext cx="108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80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CHAPTER VI — CONCLUSION AND FUTURE WORK</a:t>
            </a:r>
            <a:endParaRPr sz="2800"/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5C26F67-6D88-414B-815A-5850535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00" y="1250000"/>
            <a:ext cx="10800000" cy="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9FD8615B-26C7-4314-A3D5-202D1D3D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00" y="1550000"/>
            <a:ext cx="106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6.1 CONCLUSION</a:t>
            </a:r>
            <a:endParaRPr sz="22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STM32 handles sensing, rain response and the OLED; ESP32 provides Wi-Fi/MQTT for remote monitoring.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HiveMQ and Node-RED present weather readings, status and temperature history.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2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Functional checks passed for sensors, rain warning, UART/MQTT, dashboard updates, network reconnection and power-cycle recovery.</a:t>
            </a:r>
            <a:endParaRPr sz="22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6.2 FUTURE WORK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Build a PCB and weather-resistant enclosure; calibrate against a reference instrument.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Use authenticated TLS MQTT and persistent data storage.</a:t>
            </a:r>
            <a:endParaRPr sz="2000"/>
          </a:p>
          <a:p xmlns:a="http://schemas.openxmlformats.org/drawingml/2006/main">
            <a:pPr>
              <a:lnSpc>
                <a:spcPct val="120000"/>
              </a:lnSpc>
              <a:spcAft>
                <a:spcPts val="900"/>
              </a:spcAft>
              <a:buNone/>
            </a:pPr>
            <a:r>
              <a:rPr sz="20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Add wind/rain sensors, mobile alerts and low-power battery/solar operation.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57294491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2026-10-27T18:15:25.3620000Z</dcterms:created>
  <dcterms:modified xsi:type="dcterms:W3CDTF">2026-10-27T18:15:25.3620000Z</dcterms:modified>
</coreProperties>
</file>